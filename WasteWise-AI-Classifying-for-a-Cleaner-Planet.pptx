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Geis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6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WasteWise AI: Classifying for a Cleaner Planet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Empowering smarter recycling through advanced image classification.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9974" y="1302782"/>
            <a:ext cx="3610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WASTEWISE AI PROJECT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543175" y="1883926"/>
            <a:ext cx="954393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Why WasteWise Matters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3542467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E5F9F2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3790" y="3511987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51688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55761" y="337244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4109442"/>
            <a:ext cx="32613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Environmental Impact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459986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Mis-sorting leads to contamination, reducing recycling efficiency and increasing landfill waste.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542467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E5F9F2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16962" y="3511987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74860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78933" y="337244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4109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Economic Costs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4256" y="459986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Inefficient waste management costs municipalities and recycling facilities significant resources.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542467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E5F9F2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40133" y="3511987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398032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602105" y="337244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4109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Our Goal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7427" y="4599861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a robust ML model to accurately classify waste, improving sorting processes and resource recovery.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790" y="65639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 means </a:t>
            </a:r>
            <a:r>
              <a:rPr lang="en-US" sz="17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higher diversion rates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7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reduced contamination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waste streams.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8015" y="559594"/>
            <a:ext cx="2574250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FOUNDATION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04404" y="1081088"/>
            <a:ext cx="7021592" cy="877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900"/>
              </a:lnSpc>
              <a:buNone/>
            </a:pPr>
            <a:r>
              <a:rPr lang="en-US" sz="55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Dataset &amp; Splits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712232" y="2447092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dataset comprises </a:t>
            </a:r>
            <a:r>
              <a:rPr lang="en-US" sz="16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fixed labels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2232" y="2955727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2232" y="3352443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Glass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2232" y="3749159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2232" y="4145875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2232" y="4530560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Plastic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2232" y="4939308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2232" y="5447943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2232" y="5956578"/>
            <a:ext cx="6354723" cy="97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sourced from ImageFolder per class, with a YOLO subset for multi-item detection. All data adheres to licensing and ethical guidelines.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71065" y="2492931"/>
            <a:ext cx="6354723" cy="3524250"/>
          </a:xfrm>
          <a:prstGeom prst="roundRect">
            <a:avLst>
              <a:gd name="adj" fmla="val 51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82282" y="2630210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55774" y="2630210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540615" y="2630210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82282" y="3215045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Glass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55774" y="3215045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540615" y="3215045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78685" y="3670221"/>
            <a:ext cx="6339483" cy="5848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82282" y="3799880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70933" y="3799880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55774" y="3799880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40615" y="3799880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82282" y="4384715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70933" y="4384715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55774" y="4384715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78685" y="4839891"/>
            <a:ext cx="6339483" cy="5848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82282" y="4969550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Plastic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70933" y="4969550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55774" y="4969550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540615" y="4969550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78685" y="5424726"/>
            <a:ext cx="6339483" cy="5848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82282" y="5554385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Trash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70933" y="5554385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55774" y="5554385"/>
            <a:ext cx="117026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540615" y="5554385"/>
            <a:ext cx="117407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71065" y="6246138"/>
            <a:ext cx="63547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Class Distribution (Image Count)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2232" y="7345204"/>
            <a:ext cx="13205936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Note: Exact counts to be filled after final dataset processing.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6853" y="407194"/>
            <a:ext cx="2116574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ENHANCEMENT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3271599" y="786527"/>
            <a:ext cx="8087201" cy="63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Preprocessing &amp; Augmentation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18279" y="1780342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images were resized and normalized to a consistent input dimension.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8279" y="2150507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Augmentation strategies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improve model generalization: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8279" y="2520672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Random flips (horizontal/vertical)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8279" y="2809399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Rotations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8279" y="3098125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Brightness adjustments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8279" y="3386852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Zoom and shear transformations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8279" y="3757017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438" y="1813679"/>
            <a:ext cx="6616303" cy="66163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03438" y="8596551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Sample of Augmented Images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8279" y="9133284"/>
            <a:ext cx="1359384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These techniques prevent overfitting and expose the model to more diverse representations of waste.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0611" y="493752"/>
            <a:ext cx="2949059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MODELING APPROACHES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217789" y="953810"/>
            <a:ext cx="6194703" cy="77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Baseline CNN</a:t>
            </a:r>
            <a:endParaRPr lang="en-US" sz="4850" dirty="0"/>
          </a:p>
        </p:txBody>
      </p:sp>
      <p:sp>
        <p:nvSpPr>
          <p:cNvPr id="4" name="Text 2"/>
          <p:cNvSpPr/>
          <p:nvPr/>
        </p:nvSpPr>
        <p:spPr>
          <a:xfrm>
            <a:off x="628412" y="2158960"/>
            <a:ext cx="784895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initial approach involved a </a:t>
            </a:r>
            <a:r>
              <a:rPr lang="en-US" sz="14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Convolutional Neural Network (CNN) built from scratch</a:t>
            </a: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8412" y="2607707"/>
            <a:ext cx="784895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Architecture:</a:t>
            </a: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Simple sequential model with convolutional, pooling, and dense layers.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8412" y="2957632"/>
            <a:ext cx="784895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Optimizer:</a:t>
            </a: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Adam with an initial learning rate of 0.001.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8412" y="3307556"/>
            <a:ext cx="784895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Epochs:</a:t>
            </a: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Trained for 50 epochs, with early stopping.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8412" y="3756303"/>
            <a:ext cx="784895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baseline serves as a fundamental benchmark for more complex models.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901" y="2199323"/>
            <a:ext cx="5086588" cy="5086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22901" y="7487841"/>
            <a:ext cx="508658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Baseline CNN Architecture Sketch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8412" y="8138517"/>
            <a:ext cx="1337357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Expected baseline metrics: Top-1 Accuracy: 65-70%, Macro-F1: 0.60-0.65.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857" y="407194"/>
            <a:ext cx="2432566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MODELING APPROACHES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760714" y="786527"/>
            <a:ext cx="5108972" cy="63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Transfer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18279" y="1780342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Leveraged </a:t>
            </a:r>
            <a:r>
              <a:rPr lang="en-US" sz="11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pre-trained models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improve performance, especially on limited data.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8279" y="2150507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Models: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ResNet18 and VGG16, pre-trained on ImageNet.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8279" y="2439233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Strategy: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8279" y="2727960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Freeze: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Feature extractor layers frozen, only a new classification head trained.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8279" y="3016687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Partial Unfreeze: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Top layers of the pre-trained model unfrozen for fine-tuning.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438" y="1813679"/>
            <a:ext cx="6616303" cy="66163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03438" y="8596551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Transfer Learning Concept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8279" y="9133284"/>
            <a:ext cx="1359384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Transfer learning significantly accelerates training and boosts accuracy by leveraging features learned from vast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3080" y="714970"/>
            <a:ext cx="3444240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ZERO-SHOT CAPABILITIES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37146" y="1231583"/>
            <a:ext cx="6955988" cy="86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800"/>
              </a:lnSpc>
              <a:buNone/>
            </a:pPr>
            <a:r>
              <a:rPr lang="en-US" sz="5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CLIP Baseline</a:t>
            </a:r>
            <a:endParaRPr lang="en-US" sz="5450" dirty="0"/>
          </a:p>
        </p:txBody>
      </p:sp>
      <p:sp>
        <p:nvSpPr>
          <p:cNvPr id="4" name="Text 2"/>
          <p:cNvSpPr/>
          <p:nvPr/>
        </p:nvSpPr>
        <p:spPr>
          <a:xfrm>
            <a:off x="705683" y="2403396"/>
            <a:ext cx="1321903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Explored </a:t>
            </a:r>
            <a:r>
              <a:rPr lang="en-US" sz="15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Zero-shot CLIP (openai/clip-vit-base-patch32)</a:t>
            </a: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its ability to classify unseen categories.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5683" y="3059668"/>
            <a:ext cx="100727" cy="100727"/>
          </a:xfrm>
          <a:prstGeom prst="roundRect">
            <a:avLst>
              <a:gd name="adj" fmla="val 45390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7983" y="2952631"/>
            <a:ext cx="2604373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Prompt Engineering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07983" y="3388638"/>
            <a:ext cx="3936087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 photo of cardboard or a cardboard box"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7983" y="4103965"/>
            <a:ext cx="3936087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 photo of a glass bottle or glass container"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7983" y="4819293"/>
            <a:ext cx="3936087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 photo of a metal can or metal container"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7983" y="5534620"/>
            <a:ext cx="393608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 photo of paper or paper packaging"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07983" y="5927527"/>
            <a:ext cx="3936087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 photo of a plastic bottle or plastic packaging"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7983" y="6642854"/>
            <a:ext cx="393608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 photo of mixed waste or trash"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196007" y="3059668"/>
            <a:ext cx="100727" cy="100727"/>
          </a:xfrm>
          <a:prstGeom prst="roundRect">
            <a:avLst>
              <a:gd name="adj" fmla="val 45390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98306" y="2952631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Quick Snapshot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498306" y="3388638"/>
            <a:ext cx="3936087" cy="96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CLIP provides a reasonable baseline without any training, often achieving 50-60% accuracy out-of-the-box.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686330" y="3059668"/>
            <a:ext cx="100727" cy="100727"/>
          </a:xfrm>
          <a:prstGeom prst="roundRect">
            <a:avLst>
              <a:gd name="adj" fmla="val 45390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88629" y="2952631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Fallback Use Case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88629" y="3388638"/>
            <a:ext cx="3936087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Ideal as a fallback or for novel waste types not in the training set.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5683" y="7192089"/>
            <a:ext cx="1321903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CLIP demonstrates the power of vision-language models in classification tasks.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6342" y="407194"/>
            <a:ext cx="2677716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MULTI-ITEM RECOGNITION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760714" y="786527"/>
            <a:ext cx="5108972" cy="63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YOLOv8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18279" y="1780342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Implemented </a:t>
            </a:r>
            <a:r>
              <a:rPr lang="en-US" sz="11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YOLOv8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multi-item waste detection within a single image.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8279" y="2150507"/>
            <a:ext cx="661630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Label Format: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Standard YOLO bounding box annotations (class_id, x_center, y_center, width, height).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8279" y="2676168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 Flags: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Custom dataset configuration and appropriate augmentation settings.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8279" y="3079671"/>
            <a:ext cx="6616303" cy="1304687"/>
          </a:xfrm>
          <a:prstGeom prst="roundRect">
            <a:avLst>
              <a:gd name="adj" fmla="val 1021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5899" y="3087291"/>
            <a:ext cx="6601063" cy="4298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3894" y="3183731"/>
            <a:ext cx="300073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78235" y="3183731"/>
            <a:ext cx="300073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5899" y="3517106"/>
            <a:ext cx="6601063" cy="4298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3894" y="3613547"/>
            <a:ext cx="300073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78235" y="3613547"/>
            <a:ext cx="300073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5899" y="3946922"/>
            <a:ext cx="6601063" cy="4298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3894" y="4043363"/>
            <a:ext cx="300073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78235" y="4043363"/>
            <a:ext cx="300073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8279" y="4550926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YOLOv8 Performance Metrics</a:t>
            </a:r>
            <a:endParaRPr lang="en-US" sz="11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438" y="1813679"/>
            <a:ext cx="6616303" cy="661630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03438" y="8596551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Multi-item Waste Detection Example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8279" y="9133284"/>
            <a:ext cx="1359384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YOLOv8 enables precise localization and classification of multiple waste items simultaneously.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3115" y="407194"/>
            <a:ext cx="2884170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ROBUSTNESS ENHANCEMENT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255532" y="786527"/>
            <a:ext cx="6119217" cy="63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Denoising Autoencoder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18279" y="1780342"/>
            <a:ext cx="661630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Addressed real-world challenges like blur, dirt, and JPEG noise using a </a:t>
            </a:r>
            <a:r>
              <a:rPr lang="en-US" sz="11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Denoising Autoencoder (DAE)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8279" y="2387441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Noise Types: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Simulated various types of common image degradation.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8279" y="2676168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Architecture: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U-Net like mini-diagram, optimized for image reconstruction.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8279" y="2964894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Deployment: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Can be used for inline (real-time) or offline cleaning of images.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8279" y="3335060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Impact: Increased classification accuracy by X% and Macro-F1 by Y.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438" y="1813679"/>
            <a:ext cx="6616303" cy="66163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03438" y="8596551"/>
            <a:ext cx="66163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Before &amp; After Denoising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8279" y="9133284"/>
            <a:ext cx="1359384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DAEs improve model robustness to imperfect real-world image conditions.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7522" y="1446252"/>
            <a:ext cx="28552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RESULTS &amp; IMPACT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934408" y="2027396"/>
            <a:ext cx="10761464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Key Takeaways &amp; Roadmap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334577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084" y="3603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Best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09348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ResNet18 fine-tuned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moderate augmentation yielded the best performance.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34577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74256" y="3603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CLIP 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4256" y="409348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CLIP serves as a valuable zero-shot fallback, especially for new or ambiguous waste types.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34577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97427" y="3603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97427" y="409348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Roadmap includes further data collection, real-world YOLO box annotation, and model quantization for edge deployment.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0575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project provides a strong foundation for </a:t>
            </a:r>
            <a:r>
              <a:rPr lang="en-US" sz="17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smarter, more efficient waste classification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moving us closer to a cleaner environment.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poon on a wood surface&#10;&#10;AI-generated content may be incorrect.">
            <a:extLst>
              <a:ext uri="{FF2B5EF4-FFF2-40B4-BE49-F238E27FC236}">
                <a16:creationId xmlns:a16="http://schemas.microsoft.com/office/drawing/2014/main" id="{100FA6CE-34D2-9618-718F-05CCF60BF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1" y="0"/>
            <a:ext cx="7315200" cy="9829800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3AAC6CC0-F5DF-60B3-61DB-1B0F19417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7315201" cy="974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4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CAAA978-7F78-69EF-979A-79B6C18A6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-1"/>
            <a:ext cx="7312217" cy="771224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B0E1AE-123C-B7FF-CDE2-8908B7D0B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215" y="0"/>
            <a:ext cx="7318185" cy="771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98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mote control on a table&#10;&#10;AI-generated content may be incorrect.">
            <a:extLst>
              <a:ext uri="{FF2B5EF4-FFF2-40B4-BE49-F238E27FC236}">
                <a16:creationId xmlns:a16="http://schemas.microsoft.com/office/drawing/2014/main" id="{3894A03B-9065-A679-304F-F18CD0250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315200" cy="7664116"/>
          </a:xfrm>
          <a:prstGeom prst="rect">
            <a:avLst/>
          </a:prstGeom>
        </p:spPr>
      </p:pic>
      <p:pic>
        <p:nvPicPr>
          <p:cNvPr id="5" name="Picture 4" descr="A glass bottle with a silver cap on a wooden surface&#10;&#10;AI-generated content may be incorrect.">
            <a:extLst>
              <a:ext uri="{FF2B5EF4-FFF2-40B4-BE49-F238E27FC236}">
                <a16:creationId xmlns:a16="http://schemas.microsoft.com/office/drawing/2014/main" id="{B2FE683C-6E9B-C6C3-74F9-EFD32ACEC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488" y="0"/>
            <a:ext cx="7338912" cy="743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8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741</Words>
  <Application>Microsoft Office PowerPoint</Application>
  <PresentationFormat>Custom</PresentationFormat>
  <Paragraphs>111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Noto Serif SC Bold</vt:lpstr>
      <vt:lpstr>Geist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cfo</cp:lastModifiedBy>
  <cp:revision>2</cp:revision>
  <dcterms:created xsi:type="dcterms:W3CDTF">2025-08-31T13:25:25Z</dcterms:created>
  <dcterms:modified xsi:type="dcterms:W3CDTF">2025-09-01T13:13:59Z</dcterms:modified>
</cp:coreProperties>
</file>